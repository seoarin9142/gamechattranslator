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외부망 연계 AI 개발지원 시스템 구축 검토안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https://github.com/SeoArin9142/GameChatTranslator/issues/171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시스템 소개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본 검토안은 **내부 Git/Jenkins는 유지하되, AI 모델은 외부망 API 또는 외부 서비스와 연계**하여 사용하는 개발지원 시스템 구축 제안입니다.</a:t>
            </a:r>
          </a:p>
          <a:p>
            <a:pPr algn="l"/>
            <a:r>
              <a:rPr sz="1600"/>
              <a:t>구성 개념:</a:t>
            </a:r>
          </a:p>
          <a:p>
            <a:pPr algn="l"/>
            <a:r>
              <a:rPr sz="1600"/>
              <a:t>**Owner AI**: 코드 수정, 테스트 실행, PR 생성 지원</a:t>
            </a:r>
          </a:p>
          <a:p>
            <a:pPr algn="l"/>
            <a:r>
              <a:rPr sz="1600"/>
              <a:t>**Reviewer AI**: 변경사항 검토, 테스트 결과 확인, 승인/반려 판단 지원</a:t>
            </a:r>
          </a:p>
          <a:p>
            <a:pPr algn="l"/>
            <a:r>
              <a:rPr sz="1600"/>
              <a:t>**Orchestrator**: 작업 배정, workspace 할당, 상태 관리, 감사 로그 저장</a:t>
            </a:r>
          </a:p>
          <a:p>
            <a:pPr algn="l"/>
            <a:r>
              <a:rPr sz="1600"/>
              <a:t>**내부 Git / Jenkins 연동**: branch/PR 기준 빌드 및 테스트 자동화</a:t>
            </a:r>
          </a:p>
          <a:p>
            <a:pPr algn="l"/>
            <a:r>
              <a:rPr sz="1600"/>
              <a:t>**외부 AI 서비스 연계**: OpenAI API, GitHub Copilot Business 등 외부 서비스 활용 가능</a:t>
            </a:r>
          </a:p>
          <a:p>
            <a:pPr algn="l"/>
            <a:r>
              <a:rPr sz="1600"/>
              <a:t>운영 전제:</a:t>
            </a:r>
          </a:p>
          <a:p>
            <a:pPr algn="l"/>
            <a:r>
              <a:rPr sz="1600"/>
              <a:t>내부 Git/Jenkins는 사내에 유지</a:t>
            </a:r>
          </a:p>
          <a:p>
            <a:pPr algn="l"/>
            <a:r>
              <a:rPr sz="1600"/>
              <a:t>AI 관련 요청만 외부망 연동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시스템 소개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소스 전송 범위 및 로그 저장 범위는 별도 정책 필요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시스템 시각화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2-1. 전체 구성도</a:t>
            </a:r>
          </a:p>
          <a:p>
            <a:pPr algn="l"/>
            <a:r>
              <a:rPr sz="1600"/>
              <a:t>[Mermaid 다이어그램은 GitHub 이슈 본문 참조]</a:t>
            </a:r>
          </a:p>
          <a:p>
            <a:pPr algn="l"/>
            <a:r>
              <a:rPr sz="1600"/>
              <a:t>### 2-2. 실제 동작 흐름</a:t>
            </a:r>
          </a:p>
          <a:p>
            <a:pPr algn="l"/>
            <a:r>
              <a:rPr sz="1600"/>
              <a:t>[Mermaid 다이어그램은 GitHub 이슈 본문 참조]</a:t>
            </a:r>
          </a:p>
          <a:p>
            <a:pPr algn="l"/>
            <a:r>
              <a:rPr sz="1600"/>
              <a:t>### 2-3. 역할 분리 구조</a:t>
            </a:r>
          </a:p>
          <a:p>
            <a:pPr algn="l"/>
            <a:r>
              <a:rPr sz="1600"/>
              <a:t>[Mermaid 다이어그램은 GitHub 이슈 본문 참조]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(1/6)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3-1. 초기 구축비(1회)</a:t>
            </a:r>
          </a:p>
          <a:p>
            <a:pPr algn="l"/>
            <a:r>
              <a:rPr sz="1600"/>
              <a:t>| 항목 | 권장 구성 | 예상 비용 |</a:t>
            </a:r>
          </a:p>
          <a:p>
            <a:pPr algn="l"/>
            <a:r>
              <a:rPr sz="1600"/>
              <a:t>|---|---|---:|</a:t>
            </a:r>
          </a:p>
          <a:p>
            <a:pPr algn="l"/>
            <a:r>
              <a:rPr sz="1600"/>
              <a:t>| CPU 서버 | 내부 Git + Jenkins Controller + Orchestrator 운영용 | 700만 ~ 1,500만원 |</a:t>
            </a:r>
          </a:p>
          <a:p>
            <a:pPr algn="l"/>
            <a:r>
              <a:rPr sz="1600"/>
              <a:t>| 스토리지/백업 | NAS, 백업 스토리지, UPS 등 | 300만 ~ 800만원 |</a:t>
            </a:r>
          </a:p>
          <a:p>
            <a:pPr algn="l"/>
            <a:r>
              <a:rPr sz="1600"/>
              <a:t>| 구축 인건비 | MVP 2~4주, 연동/운영 화면 포함 | 1,500만 ~ 3,000만원 |</a:t>
            </a:r>
          </a:p>
          <a:p>
            <a:pPr algn="l"/>
            <a:r>
              <a:rPr sz="1600"/>
              <a:t>| **총 초기 구축비** | **외부망 연계형 기준** | **2,500만 ~ 5,300만원** |</a:t>
            </a:r>
          </a:p>
          <a:p>
            <a:pPr algn="l"/>
            <a:r>
              <a:rPr sz="1600"/>
              <a:t>### 3-2. 소프트웨어/라이선스 비용</a:t>
            </a:r>
          </a:p>
          <a:p>
            <a:pPr algn="l"/>
            <a:r>
              <a:rPr sz="1600"/>
              <a:t>| 항목 | 비용 | 비고 |</a:t>
            </a:r>
          </a:p>
          <a:p>
            <a:pPr algn="l"/>
            <a:r>
              <a:rPr sz="1600"/>
              <a:t>|---|---:|---|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(2/6)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Jenkins | 0원 | 오픈소스 |</a:t>
            </a:r>
          </a:p>
          <a:p>
            <a:pPr algn="l"/>
            <a:r>
              <a:rPr sz="1600"/>
              <a:t>| 내부 Git (Gitea Self-Managed) | 0원 | 오픈소스 self-hosted |</a:t>
            </a:r>
          </a:p>
          <a:p>
            <a:pPr algn="l"/>
            <a:r>
              <a:rPr sz="1600"/>
              <a:t>| 내부 Git (GitLab Self-Managed Free) | 0원부터 | Free 가능, Premium/Ultimate는 별도 좌석 과금 |</a:t>
            </a:r>
          </a:p>
          <a:p>
            <a:pPr algn="l"/>
            <a:r>
              <a:rPr sz="1600"/>
              <a:t>| GitHub Copilot Business | **$19 / 사용자 / 월** | 공식 좌석 과금 |</a:t>
            </a:r>
          </a:p>
          <a:p>
            <a:pPr algn="l"/>
            <a:r>
              <a:rPr sz="1600"/>
              <a:t>| OpenAI API (GPT-5.4) | 입력 **$2.50 / 1M tokens**, 출력 **$15 / 1M tokens** | 공식 사용량 과금 |</a:t>
            </a:r>
          </a:p>
          <a:p>
            <a:pPr algn="l"/>
            <a:r>
              <a:rPr sz="1600"/>
              <a:t>### 3-3. 월간 운영비</a:t>
            </a:r>
          </a:p>
          <a:p>
            <a:pPr algn="l"/>
            <a:r>
              <a:rPr sz="1600"/>
              <a:t>| 구분 | 예상 비용 |</a:t>
            </a:r>
          </a:p>
          <a:p>
            <a:pPr algn="l"/>
            <a:r>
              <a:rPr sz="1600"/>
              <a:t>|---|---:|</a:t>
            </a:r>
          </a:p>
          <a:p>
            <a:pPr algn="l"/>
            <a:r>
              <a:rPr sz="1600"/>
              <a:t>| 인프라 운영비 | 50만 ~ 120만원/월 |</a:t>
            </a:r>
          </a:p>
          <a:p>
            <a:pPr algn="l"/>
            <a:r>
              <a:rPr sz="1600"/>
              <a:t>| 운영 인력 일부 포함 시 | 200만 ~ 500만원/월 |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(3/6)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외부 AI 사용료 | 사용량/좌석 수에 따라 별도 |</a:t>
            </a:r>
          </a:p>
          <a:p>
            <a:pPr algn="l"/>
            <a:r>
              <a:rPr sz="1600"/>
              <a:t>### 3-4. 연간 운영비</a:t>
            </a:r>
          </a:p>
          <a:p>
            <a:pPr algn="l"/>
            <a:r>
              <a:rPr sz="1600"/>
              <a:t>| 구분 | 예상 비용 |</a:t>
            </a:r>
          </a:p>
          <a:p>
            <a:pPr algn="l"/>
            <a:r>
              <a:rPr sz="1600"/>
              <a:t>|---|---:|</a:t>
            </a:r>
          </a:p>
          <a:p>
            <a:pPr algn="l"/>
            <a:r>
              <a:rPr sz="1600"/>
              <a:t>| 인프라 운영비 | 600만 ~ 1,440만원/년 |</a:t>
            </a:r>
          </a:p>
          <a:p>
            <a:pPr algn="l"/>
            <a:r>
              <a:rPr sz="1600"/>
              <a:t>| 운영 인력 일부 포함 시 | 2,400만 ~ 6,000만원/년 |</a:t>
            </a:r>
          </a:p>
          <a:p>
            <a:pPr algn="l"/>
            <a:r>
              <a:rPr sz="1600"/>
              <a:t>| 외부 AI 사용료 | 사용량/좌석 수에 따라 별도 |</a:t>
            </a:r>
          </a:p>
          <a:p>
            <a:pPr algn="l"/>
            <a:r>
              <a:rPr sz="1600"/>
              <a:t>### 3-5. 세부 견적 예시</a:t>
            </a:r>
          </a:p>
          <a:p>
            <a:pPr algn="l"/>
            <a:r>
              <a:rPr sz="1600"/>
              <a:t>| 항목 | 수량 | 단가(예상) | 합계(예상) | 비고 |</a:t>
            </a:r>
          </a:p>
          <a:p>
            <a:pPr algn="l"/>
            <a:r>
              <a:rPr sz="1600"/>
              <a:t>|---|---:|---:|---:|---|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(4/6)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CPU 서버 | 1 | 700만 ~ 1,500만원 | 700만 ~ 1,500만원 | Git + Jenkins + Orchestrator |</a:t>
            </a:r>
          </a:p>
          <a:p>
            <a:pPr algn="l"/>
            <a:r>
              <a:rPr sz="1600"/>
              <a:t>| NAS/백업 스토리지 | 1식 | 200만 ~ 500만원 | 200만 ~ 500만원 | 백업/감사 로그 저장 |</a:t>
            </a:r>
          </a:p>
          <a:p>
            <a:pPr algn="l"/>
            <a:r>
              <a:rPr sz="1600"/>
              <a:t>| UPS | 1식 | 100만 ~ 300만원 | 100만 ~ 300만원 | 정전 보호 |</a:t>
            </a:r>
          </a:p>
          <a:p>
            <a:pPr algn="l"/>
            <a:r>
              <a:rPr sz="1600"/>
              <a:t>| 네트워크/부대자재 | 1식 | 50만 ~ 200만원 | 50만 ~ 200만원 | 방화벽 정책, 케이블, 자재 |</a:t>
            </a:r>
          </a:p>
          <a:p>
            <a:pPr algn="l"/>
            <a:r>
              <a:rPr sz="1600"/>
              <a:t>| 구축 인건비 | 1식 | 1,500만 ~ 3,000만원 | 1,500만 ~ 3,000만원 | MVP 2~4주 기준 |</a:t>
            </a:r>
          </a:p>
          <a:p>
            <a:pPr algn="l"/>
            <a:r>
              <a:rPr sz="1600"/>
              <a:t>| **총합** |  |  | **2,550만 ~ 5,500만원** | 세부 견적 합산 예시 |</a:t>
            </a:r>
          </a:p>
          <a:p>
            <a:pPr algn="l"/>
            <a:r>
              <a:rPr sz="1600"/>
              <a:t>### 3-6. 외부 AI 사용료 예시</a:t>
            </a:r>
          </a:p>
          <a:p>
            <a:pPr algn="l"/>
            <a:r>
              <a:rPr sz="1600"/>
              <a:t>#### 좌석형 예시</a:t>
            </a:r>
          </a:p>
          <a:p>
            <a:pPr algn="l"/>
            <a:r>
              <a:rPr sz="1600"/>
              <a:t>**GitHub Copilot Business**: 공식 가격 **$19 / 사용자 / 월**</a:t>
            </a:r>
          </a:p>
          <a:p>
            <a:pPr algn="l"/>
            <a:r>
              <a:rPr sz="1600"/>
              <a:t>예시: 50명 기준 **$950 / 월**, **$11,400 / 년** + 환율/세금 별도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(5/6)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#### 사용량형 예시</a:t>
            </a:r>
          </a:p>
          <a:p>
            <a:pPr algn="l"/>
            <a:r>
              <a:rPr sz="1600"/>
              <a:t>**OpenAI GPT-5.4 공식 가격**</a:t>
            </a:r>
          </a:p>
          <a:p>
            <a:pPr algn="l"/>
            <a:r>
              <a:rPr sz="1600"/>
              <a:t>입력: **$2.50 / 1M tokens**</a:t>
            </a:r>
          </a:p>
          <a:p>
            <a:pPr algn="l"/>
            <a:r>
              <a:rPr sz="1600"/>
              <a:t>출력: **$15.00 / 1M tokens**</a:t>
            </a:r>
          </a:p>
          <a:p>
            <a:pPr algn="l"/>
            <a:r>
              <a:rPr sz="1600"/>
              <a:t>예시: 월 **100M input + 20M output** 사용 시</a:t>
            </a:r>
          </a:p>
          <a:p>
            <a:pPr algn="l"/>
            <a:r>
              <a:rPr sz="1600"/>
              <a:t>입력 비용: **$250 / 월**</a:t>
            </a:r>
          </a:p>
          <a:p>
            <a:pPr algn="l"/>
            <a:r>
              <a:rPr sz="1600"/>
              <a:t>출력 비용: **$300 / 월**</a:t>
            </a:r>
          </a:p>
          <a:p>
            <a:pPr algn="l"/>
            <a:r>
              <a:rPr sz="1600"/>
              <a:t>합계: **$550 / 월**, **$6,600 / 년** + 환율/세금 별도</a:t>
            </a:r>
          </a:p>
          <a:p>
            <a:pPr algn="l"/>
            <a:r>
              <a:rPr sz="1600"/>
              <a:t>권장안:</a:t>
            </a:r>
          </a:p>
          <a:p>
            <a:pPr algn="l"/>
            <a:r>
              <a:rPr sz="1600"/>
              <a:t>초기 비용을 줄이려면 **외부망 연계형**이 유리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예상 비용 (6/6)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대신 외부 AI 사용료가 매월 발생</a:t>
            </a:r>
          </a:p>
          <a:p>
            <a:pPr algn="l"/>
            <a:r>
              <a:rPr sz="1600"/>
              <a:t>보안/계약/데이터 반출 통제가 가능한 경우에만 적합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구축 방법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단계별 구축</a:t>
            </a:r>
          </a:p>
          <a:p>
            <a:pPr algn="l"/>
            <a:r>
              <a:rPr sz="1600"/>
              <a:t>#### 1단계: Reviewer 우선 도입</a:t>
            </a:r>
          </a:p>
          <a:p>
            <a:pPr algn="l"/>
            <a:r>
              <a:rPr sz="1600"/>
              <a:t>diff 읽기</a:t>
            </a:r>
          </a:p>
          <a:p>
            <a:pPr algn="l"/>
            <a:r>
              <a:rPr sz="1600"/>
              <a:t>테스트 실행</a:t>
            </a:r>
          </a:p>
          <a:p>
            <a:pPr algn="l"/>
            <a:r>
              <a:rPr sz="1600"/>
              <a:t>리뷰 결과 생성</a:t>
            </a:r>
          </a:p>
          <a:p>
            <a:pPr algn="l"/>
            <a:r>
              <a:rPr sz="1600"/>
              <a:t>외부 AI API 연동</a:t>
            </a:r>
          </a:p>
          <a:p>
            <a:pPr algn="l"/>
            <a:r>
              <a:rPr sz="1600"/>
              <a:t>#### 2단계: Owner 기능 추가</a:t>
            </a:r>
          </a:p>
          <a:p>
            <a:pPr algn="l"/>
            <a:r>
              <a:rPr sz="1600"/>
              <a:t>작업 브랜치 수정</a:t>
            </a:r>
          </a:p>
          <a:p>
            <a:pPr algn="l"/>
            <a:r>
              <a:rPr sz="1600"/>
              <a:t>테스트 실행</a:t>
            </a:r>
          </a:p>
          <a:p>
            <a:pPr algn="l"/>
            <a:r>
              <a:rPr sz="1600"/>
              <a:t>PR 생성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구축 방법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#### 3단계: 승인/반려 루프 구축</a:t>
            </a:r>
          </a:p>
          <a:p>
            <a:pPr algn="l"/>
            <a:r>
              <a:rPr sz="1600"/>
              <a:t>Owner 작업 -&gt; Reviewer 검토 -&gt; 승인/반려</a:t>
            </a:r>
          </a:p>
          <a:p>
            <a:pPr algn="l"/>
            <a:r>
              <a:rPr sz="1600"/>
              <a:t>재작업 자동화</a:t>
            </a:r>
          </a:p>
          <a:p>
            <a:pPr algn="l"/>
            <a:r>
              <a:rPr sz="1600"/>
              <a:t>#### 4단계: 확대 적용</a:t>
            </a:r>
          </a:p>
          <a:p>
            <a:pPr algn="l"/>
            <a:r>
              <a:rPr sz="1600"/>
              <a:t>팀별 workspace 분리</a:t>
            </a:r>
          </a:p>
          <a:p>
            <a:pPr algn="l"/>
            <a:r>
              <a:rPr sz="1600"/>
              <a:t>여러 저장소 확장</a:t>
            </a:r>
          </a:p>
          <a:p>
            <a:pPr algn="l"/>
            <a:r>
              <a:rPr sz="1600"/>
              <a:t>필요 시 Arbiter AI 도입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장점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초기 인프라 비용이 폐쇄망 GPU 서버 방식보다 낮음</a:t>
            </a:r>
          </a:p>
          <a:p>
            <a:pPr algn="l"/>
            <a:r>
              <a:rPr sz="1600"/>
              <a:t>GPU 서버 없이도 시작 가능</a:t>
            </a:r>
          </a:p>
          <a:p>
            <a:pPr algn="l"/>
            <a:r>
              <a:rPr sz="1600"/>
              <a:t>최신 상용 모델을 바로 활용 가능</a:t>
            </a:r>
          </a:p>
          <a:p>
            <a:pPr algn="l"/>
            <a:r>
              <a:rPr sz="1600"/>
              <a:t>도입 속도가 빠름</a:t>
            </a:r>
          </a:p>
          <a:p>
            <a:pPr algn="l"/>
            <a:r>
              <a:rPr sz="1600"/>
              <a:t>운영 난이도가 상대적으로 낮음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단점 및 리스크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소스/로그 일부가 외부 AI 서비스로 전송될 수 있음</a:t>
            </a:r>
          </a:p>
          <a:p>
            <a:pPr algn="l"/>
            <a:r>
              <a:rPr sz="1600"/>
              <a:t>계약/보안/개인정보/반출 통제 검토 필요</a:t>
            </a:r>
          </a:p>
          <a:p>
            <a:pPr algn="l"/>
            <a:r>
              <a:rPr sz="1600"/>
              <a:t>API 사용량 증가 시 월 비용이 지속적으로 증가</a:t>
            </a:r>
          </a:p>
          <a:p>
            <a:pPr algn="l"/>
            <a:r>
              <a:rPr sz="1600"/>
              <a:t>외부 서비스 장애 시 업무 영향 가능</a:t>
            </a:r>
          </a:p>
          <a:p>
            <a:pPr algn="l"/>
            <a:r>
              <a:rPr sz="1600"/>
              <a:t>AI 결과를 사람이 최종 검토해야 함</a:t>
            </a:r>
          </a:p>
          <a:p>
            <a:pPr algn="l"/>
            <a:r>
              <a:rPr sz="1600"/>
              <a:t>### 대응 방안</a:t>
            </a:r>
          </a:p>
          <a:p>
            <a:pPr algn="l"/>
            <a:r>
              <a:rPr sz="1600"/>
              <a:t>전송 가능한 데이터 범위 문서화</a:t>
            </a:r>
          </a:p>
          <a:p>
            <a:pPr algn="l"/>
            <a:r>
              <a:rPr sz="1600"/>
              <a:t>민감 저장소 제외 정책 적용</a:t>
            </a:r>
          </a:p>
          <a:p>
            <a:pPr algn="l"/>
            <a:r>
              <a:rPr sz="1600"/>
              <a:t>branch/PR 기반 운영</a:t>
            </a:r>
          </a:p>
          <a:p>
            <a:pPr algn="l"/>
            <a:r>
              <a:rPr sz="1600"/>
              <a:t>Jenkins 결과 없는 완료 금지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단점 및 리스크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작업 이력/승인 이력 전부 기록</a:t>
            </a:r>
          </a:p>
          <a:p>
            <a:pPr algn="l"/>
            <a:r>
              <a:rPr sz="1600"/>
              <a:t>외부 AI 장애 시 Reviewer-only 또는 수동 모드 fallback 준비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어떻게 사용하는지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1. 개발자가 작업 생성</a:t>
            </a:r>
          </a:p>
          <a:p>
            <a:pPr algn="l"/>
            <a:r>
              <a:rPr sz="1600"/>
              <a:t>2. 시스템이 workspace 할당</a:t>
            </a:r>
          </a:p>
          <a:p>
            <a:pPr algn="l"/>
            <a:r>
              <a:rPr sz="1600"/>
              <a:t>3. Owner AI가 외부 AI 서비스 호출 후 코드 수정 및 테스트 수행</a:t>
            </a:r>
          </a:p>
          <a:p>
            <a:pPr algn="l"/>
            <a:r>
              <a:rPr sz="1600"/>
              <a:t>4. Jenkins가 빌드/테스트 실행</a:t>
            </a:r>
          </a:p>
          <a:p>
            <a:pPr algn="l"/>
            <a:r>
              <a:rPr sz="1600"/>
              <a:t>5. Reviewer AI가 외부 AI 서비스 호출 후 결과 검토</a:t>
            </a:r>
          </a:p>
          <a:p>
            <a:pPr algn="l"/>
            <a:r>
              <a:rPr sz="1600"/>
              <a:t>6. 승인 시 PR 유지, 반려 시 재작업</a:t>
            </a:r>
          </a:p>
          <a:p>
            <a:pPr algn="l"/>
            <a:r>
              <a:rPr sz="1600"/>
              <a:t>즉, 개발자를 대체하는 구조가 아니라</a:t>
            </a:r>
          </a:p>
          <a:p>
            <a:pPr algn="l"/>
            <a:r>
              <a:rPr sz="1600"/>
              <a:t>**개발자의 반복 작업을 줄이고 검토 보조를 제공하는 구조**로 운영합니다.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필요한 장비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최소 권장 장비</a:t>
            </a:r>
          </a:p>
          <a:p>
            <a:pPr algn="l"/>
            <a:r>
              <a:rPr sz="1600"/>
              <a:t>**CPU 서버 1대**</a:t>
            </a:r>
          </a:p>
          <a:p>
            <a:pPr algn="l"/>
            <a:r>
              <a:rPr sz="1600"/>
              <a:t>내부 Git 서버</a:t>
            </a:r>
          </a:p>
          <a:p>
            <a:pPr algn="l"/>
            <a:r>
              <a:rPr sz="1600"/>
              <a:t>Jenkins Controller</a:t>
            </a:r>
          </a:p>
          <a:p>
            <a:pPr algn="l"/>
            <a:r>
              <a:rPr sz="1600"/>
              <a:t>오케스트레이터 운영</a:t>
            </a:r>
          </a:p>
          <a:p>
            <a:pPr algn="l"/>
            <a:r>
              <a:rPr sz="1600"/>
              <a:t>NAS 또는 백업 스토리지</a:t>
            </a:r>
          </a:p>
          <a:p>
            <a:pPr algn="l"/>
            <a:r>
              <a:rPr sz="1600"/>
              <a:t>UPS</a:t>
            </a:r>
          </a:p>
          <a:p>
            <a:pPr algn="l"/>
            <a:r>
              <a:rPr sz="1600"/>
              <a:t>외부 AI API 사용 가능한 네트워크 정책</a:t>
            </a:r>
          </a:p>
          <a:p>
            <a:pPr algn="l"/>
            <a:r>
              <a:rPr sz="1600"/>
              <a:t>### 권장 운영 장비 구성</a:t>
            </a:r>
          </a:p>
          <a:p>
            <a:pPr algn="l"/>
            <a:r>
              <a:rPr sz="1600"/>
              <a:t>**CPU 서버 1대 + 내부 백업 장비**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필요한 장비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팀 1개 / 저장소 1개 MVP 운영 가능 수준</a:t>
            </a:r>
          </a:p>
          <a:p>
            <a:pPr algn="l"/>
            <a:r>
              <a:rPr sz="1600"/>
              <a:t>외부 AI 연동을 위한 방화벽/프록시 정책 필요</a:t>
            </a:r>
          </a:p>
          <a:p>
            <a:pPr algn="l"/>
            <a:r>
              <a:rPr sz="1600"/>
              <a:t>### 운영 환경</a:t>
            </a:r>
          </a:p>
          <a:p>
            <a:pPr algn="l"/>
            <a:r>
              <a:rPr sz="1600"/>
              <a:t>내부 Git/Jenkins 유지</a:t>
            </a:r>
          </a:p>
          <a:p>
            <a:pPr algn="l"/>
            <a:r>
              <a:rPr sz="1600"/>
              <a:t>외부 AI 서비스 호출 가능 환경</a:t>
            </a:r>
          </a:p>
          <a:p>
            <a:pPr algn="l"/>
            <a:r>
              <a:rPr sz="1600"/>
              <a:t>작업/로그/승인 이력 저장용 서버 또는 DB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PPT 1장 발표용 요약 문구 (1/3)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제목</a:t>
            </a:r>
          </a:p>
          <a:p>
            <a:pPr algn="l"/>
            <a:r>
              <a:rPr sz="1600"/>
              <a:t>외부망 연계 AI 개발지원 시스템 구축 검토안</a:t>
            </a:r>
          </a:p>
          <a:p>
            <a:pPr algn="l"/>
            <a:r>
              <a:rPr sz="1600"/>
              <a:t>### 배경</a:t>
            </a:r>
          </a:p>
          <a:p>
            <a:pPr algn="l"/>
            <a:r>
              <a:rPr sz="1600"/>
              <a:t>반복적인 코드 리뷰, 테스트 확인, 브랜치 작업 부담 증가</a:t>
            </a:r>
          </a:p>
          <a:p>
            <a:pPr algn="l"/>
            <a:r>
              <a:rPr sz="1600"/>
              <a:t>GPU 서버 기반 내부 AI보다 빠른 도입 가능</a:t>
            </a:r>
          </a:p>
          <a:p>
            <a:pPr algn="l"/>
            <a:r>
              <a:rPr sz="1600"/>
              <a:t>외부 상용 AI 활용 시 최신 모델 접근 가능</a:t>
            </a:r>
          </a:p>
          <a:p>
            <a:pPr algn="l"/>
            <a:r>
              <a:rPr sz="1600"/>
              <a:t>### 제안 내용</a:t>
            </a:r>
          </a:p>
          <a:p>
            <a:pPr algn="l"/>
            <a:r>
              <a:rPr sz="1600"/>
              <a:t>Owner AI: 코드 수정 / 테스트 / PR 생성 지원</a:t>
            </a:r>
          </a:p>
          <a:p>
            <a:pPr algn="l"/>
            <a:r>
              <a:rPr sz="1600"/>
              <a:t>Reviewer AI: 변경사항 검토 / 승인·반려 판단 지원</a:t>
            </a:r>
          </a:p>
          <a:p>
            <a:pPr algn="l"/>
            <a:r>
              <a:rPr sz="1600"/>
              <a:t>내부 Git / Jenkins 연동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PPT 1장 발표용 요약 문구 (2/3)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외부 AI API 또는 SaaS 연계</a:t>
            </a:r>
          </a:p>
          <a:p>
            <a:pPr algn="l"/>
            <a:r>
              <a:rPr sz="1600"/>
              <a:t>### 기대 효과</a:t>
            </a:r>
          </a:p>
          <a:p>
            <a:pPr algn="l"/>
            <a:r>
              <a:rPr sz="1600"/>
              <a:t>초기 구축비 절감</a:t>
            </a:r>
          </a:p>
          <a:p>
            <a:pPr algn="l"/>
            <a:r>
              <a:rPr sz="1600"/>
              <a:t>도입 속도 향상</a:t>
            </a:r>
          </a:p>
          <a:p>
            <a:pPr algn="l"/>
            <a:r>
              <a:rPr sz="1600"/>
              <a:t>최신 모델 활용 가능</a:t>
            </a:r>
          </a:p>
          <a:p>
            <a:pPr algn="l"/>
            <a:r>
              <a:rPr sz="1600"/>
              <a:t>### 비용</a:t>
            </a:r>
          </a:p>
          <a:p>
            <a:pPr algn="l"/>
            <a:r>
              <a:rPr sz="1600"/>
              <a:t>초기 구축비: **2,500만 ~ 5,300만원**</a:t>
            </a:r>
          </a:p>
          <a:p>
            <a:pPr algn="l"/>
            <a:r>
              <a:rPr sz="1600"/>
              <a:t>월간 인프라 운영비: **50만 ~ 120만원**</a:t>
            </a:r>
          </a:p>
          <a:p>
            <a:pPr algn="l"/>
            <a:r>
              <a:rPr sz="1600"/>
              <a:t>외부 AI 사용료: **좌석형 또는 사용량형 별도**</a:t>
            </a:r>
          </a:p>
          <a:p>
            <a:pPr algn="l"/>
            <a:r>
              <a:rPr sz="1600"/>
              <a:t>### 제안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PPT 1장 발표용 요약 문구 (3/3)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CPU 서버 1대 + 내부 Git/Jenkins 유지</a:t>
            </a:r>
          </a:p>
          <a:p>
            <a:pPr algn="l"/>
            <a:r>
              <a:rPr sz="1600"/>
              <a:t>저장소 1개, 팀 1개 기준 MVP부터 단계 도입 검토</a:t>
            </a:r>
          </a:p>
          <a:p>
            <a:pPr algn="l"/>
            <a:r>
              <a:rPr sz="1600"/>
              <a:t>데이터 반출 범위 통제 정책을 전제로 진행</a:t>
            </a:r>
          </a:p>
          <a:p>
            <a:pPr algn="l"/>
            <a:r>
              <a:rPr sz="1600"/>
              <a:t>### 회의용 한 줄</a:t>
            </a:r>
          </a:p>
          <a:p>
            <a:pPr algn="l"/>
            <a:r>
              <a:rPr sz="1600"/>
              <a:t>외부망 연계형은 초기 구축비가 낮고 빠르게 도입할 수 있지만, **외부 AI 사용료와 소스 전송 범위 통제**가 핵심 조건입니다.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추진 일정표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### 2주 MVP 일정표</a:t>
            </a:r>
          </a:p>
          <a:p>
            <a:pPr algn="l"/>
            <a:r>
              <a:rPr sz="1600"/>
              <a:t>| 주차 | 작업 내용 | 산출물 |</a:t>
            </a:r>
          </a:p>
          <a:p>
            <a:pPr algn="l"/>
            <a:r>
              <a:rPr sz="1600"/>
              <a:t>|---|---|---|</a:t>
            </a:r>
          </a:p>
          <a:p>
            <a:pPr algn="l"/>
            <a:r>
              <a:rPr sz="1600"/>
              <a:t>| 1주차 | CPU 서버 준비, Git/Jenkins 연동, 외부 AI API 연결, Reviewer 기능 구현 | 리뷰 결과 생성 가능 |</a:t>
            </a:r>
          </a:p>
          <a:p>
            <a:pPr algn="l"/>
            <a:r>
              <a:rPr sz="1600"/>
              <a:t>| 2주차 | Owner 기능 추가, branch 작업, PR 생성, 승인/반려 루프 연결 | 저장소 1개 기준 MVP 동작 |</a:t>
            </a:r>
          </a:p>
          <a:p>
            <a:pPr algn="l"/>
            <a:r>
              <a:rPr sz="1600"/>
              <a:t>### 4주 확장 일정표</a:t>
            </a:r>
          </a:p>
          <a:p>
            <a:pPr algn="l"/>
            <a:r>
              <a:rPr sz="1600"/>
              <a:t>| 주차 | 작업 내용 | 산출물 |</a:t>
            </a:r>
          </a:p>
          <a:p>
            <a:pPr algn="l"/>
            <a:r>
              <a:rPr sz="1600"/>
              <a:t>|---|---|---|</a:t>
            </a:r>
          </a:p>
          <a:p>
            <a:pPr algn="l"/>
            <a:r>
              <a:rPr sz="1600"/>
              <a:t>| 1주차 | CPU 서버/네트워크 정책 정리, Git/Jenkins 연동 | 기본 인프라 준비 |</a:t>
            </a:r>
          </a:p>
          <a:p>
            <a:pPr algn="l"/>
            <a:r>
              <a:rPr sz="1600"/>
              <a:t>| 2주차 | Reviewer 도입, diff/test 기반 리뷰 | Reviewer MVP |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추진 일정표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3주차 | Owner 도입, branch 수정/test/push/PR 생성 | Owner MVP |</a:t>
            </a:r>
          </a:p>
          <a:p>
            <a:pPr algn="l"/>
            <a:r>
              <a:rPr sz="1600"/>
              <a:t>| 4주차 | workspace allocator, 감사 로그, 운영 화면 정리 | 팀 단위 시범 운영 가능 |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11. 요청 사항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외부망 연계 AI 개발지원 시스템 구축 가능 여부 검토</a:t>
            </a:r>
          </a:p>
          <a:p>
            <a:pPr algn="l"/>
            <a:r>
              <a:rPr sz="1600"/>
              <a:t>CPU 서버 1대 기준 예산 검토</a:t>
            </a:r>
          </a:p>
          <a:p>
            <a:pPr algn="l"/>
            <a:r>
              <a:rPr sz="1600"/>
              <a:t>저장소 1개 / 팀 1개 기준 MVP 시범 도입 검토</a:t>
            </a:r>
          </a:p>
          <a:p>
            <a:pPr algn="l"/>
            <a:r>
              <a:rPr sz="1600"/>
              <a:t>외부 AI 서비스 계약/연동 방식 협의</a:t>
            </a:r>
          </a:p>
          <a:p>
            <a:pPr algn="l"/>
            <a:r>
              <a:rPr sz="1600"/>
              <a:t>데이터 전송 범위 및 운영 주체 지정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12. AI 모델/서비스 비교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| 구분 | 장점 | 단점 | 외부망 연계 적합성 | 권장 용도 |</a:t>
            </a:r>
          </a:p>
          <a:p>
            <a:pPr algn="l"/>
            <a:r>
              <a:rPr sz="1600"/>
              <a:t>|---|---|---|---|---|</a:t>
            </a:r>
          </a:p>
          <a:p>
            <a:pPr algn="l"/>
            <a:r>
              <a:rPr sz="1600"/>
              <a:t>| **Claude 계열** | 코드 리뷰/수정 품질이 높고 Owner/Reviewer 구조와 궁합이 좋음 | 완전 폐쇄망 직접 설치는 어렵고 관리형 경로 의존 | **높음** | 코드 리뷰, 패치 초안, 문서/규정 해설 |</a:t>
            </a:r>
          </a:p>
          <a:p>
            <a:pPr algn="l"/>
            <a:r>
              <a:rPr sz="1600"/>
              <a:t>| **GPT 계열** | 범용 추론, 도구 사용, 코드 생성 품질이 높음 | 사용량 과금과 데이터 전송 범위 통제가 필요 | **높음** | 범용 Owner/Reviewer, 자동화 워크플로우 |</a:t>
            </a:r>
          </a:p>
          <a:p>
            <a:pPr algn="l"/>
            <a:r>
              <a:rPr sz="1600"/>
              <a:t>| **Gemini 계열** | 긴 컨텍스트와 Google 생태계 연동 강점 | Vertex/Google 기반 운영 전제가 강함 | **높음** | 긴 문서/규격 참조형 작업 |</a:t>
            </a:r>
          </a:p>
          <a:p>
            <a:pPr algn="l"/>
            <a:r>
              <a:rPr sz="1600"/>
              <a:t>| **GitHub Copilot Business** | 도입이 빠르고 IDE 친화적 | Owner/Reviewer/Orchestrator 구조를 그대로 만들기엔 한계 | **중간** | 개발자 개인 보조, 코드 제안 |</a:t>
            </a:r>
          </a:p>
          <a:p>
            <a:pPr algn="l"/>
            <a:r>
              <a:rPr sz="1600"/>
              <a:t>현재 목표가 **"이곳과 유사한 Owner / Reviewer 협업 구조"**라면, 외부망 연계형에서는 **Claude / GPT 계열 관리형 모델이 가장 현실적**입니다.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"이곳과 동일한 수준" 구축 가능성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외부망 연계형은 폐쇄망보다 **현재 이곳과 가장 유사한 수준으로 접근 가능한 방식**입니다.</a:t>
            </a:r>
          </a:p>
          <a:p>
            <a:pPr algn="l"/>
            <a:r>
              <a:rPr sz="1600"/>
              <a:t>### 가능한 것</a:t>
            </a:r>
          </a:p>
          <a:p>
            <a:pPr algn="l"/>
            <a:r>
              <a:rPr sz="1600"/>
              <a:t>Owner / Reviewer / Orchestrator 구조</a:t>
            </a:r>
          </a:p>
          <a:p>
            <a:pPr algn="l"/>
            <a:r>
              <a:rPr sz="1600"/>
              <a:t>코드 수정 -&gt; PR 생성 -&gt; 리뷰 루프</a:t>
            </a:r>
          </a:p>
          <a:p>
            <a:pPr algn="l"/>
            <a:r>
              <a:rPr sz="1600"/>
              <a:t>내부 Git / Jenkins 연동</a:t>
            </a:r>
          </a:p>
          <a:p>
            <a:pPr algn="l"/>
            <a:r>
              <a:rPr sz="1600"/>
              <a:t>고성능 상용 모델 사용</a:t>
            </a:r>
          </a:p>
          <a:p>
            <a:pPr algn="l"/>
            <a:r>
              <a:rPr sz="1600"/>
              <a:t>### 여전히 다른 점</a:t>
            </a:r>
          </a:p>
          <a:p>
            <a:pPr algn="l"/>
            <a:r>
              <a:rPr sz="1600"/>
              <a:t>모델 API 비용이 지속적으로 발생함</a:t>
            </a:r>
          </a:p>
          <a:p>
            <a:pPr algn="l"/>
            <a:r>
              <a:rPr sz="1600"/>
              <a:t>데이터 전송 범위 통제 정책이 필요함</a:t>
            </a:r>
          </a:p>
          <a:p>
            <a:pPr algn="l"/>
            <a:r>
              <a:rPr sz="1600"/>
              <a:t>서비스 장애나 정책 변경 영향을 받음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13. "이곳과 동일한 수준" 구축 가능성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즉,</a:t>
            </a:r>
          </a:p>
          <a:p>
            <a:pPr algn="l"/>
            <a:r>
              <a:rPr sz="1600"/>
              <a:t>**구조는 거의 유사하게 구현 가능**</a:t>
            </a:r>
          </a:p>
          <a:p>
            <a:pPr algn="l"/>
            <a:r>
              <a:rPr sz="1600"/>
              <a:t>**모델 품질도 폐쇄망형보다 훨씬 가깝게 맞출 수 있음**</a:t>
            </a:r>
          </a:p>
          <a:p>
            <a:pPr algn="l"/>
            <a:r>
              <a:rPr sz="1600"/>
              <a:t>다만 보안/비용/통제 측면의 부담이 커집니다.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권장 첫 번째 성공 사례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외부망 연계형에서도 첫 유즈케이스는 **Reviewer 중심**이 가장 안전합니다.</a:t>
            </a:r>
          </a:p>
          <a:p>
            <a:pPr algn="l"/>
            <a:r>
              <a:rPr sz="1600"/>
              <a:t>### 권장 1차 유즈케이스</a:t>
            </a:r>
          </a:p>
          <a:p>
            <a:pPr algn="l"/>
            <a:r>
              <a:rPr sz="1600"/>
              <a:t>입력: PR diff, 테스트 결과, 정적분석 결과</a:t>
            </a:r>
          </a:p>
          <a:p>
            <a:pPr algn="l"/>
            <a:r>
              <a:rPr sz="1600"/>
              <a:t>출력:</a:t>
            </a:r>
          </a:p>
          <a:p>
            <a:pPr algn="l"/>
            <a:r>
              <a:rPr sz="1600"/>
              <a:t>원인 설명</a:t>
            </a:r>
          </a:p>
          <a:p>
            <a:pPr algn="l"/>
            <a:r>
              <a:rPr sz="1600"/>
              <a:t>수정 가이드</a:t>
            </a:r>
          </a:p>
          <a:p>
            <a:pPr algn="l"/>
            <a:r>
              <a:rPr sz="1600"/>
              <a:t>패치 초안</a:t>
            </a:r>
          </a:p>
          <a:p>
            <a:pPr algn="l"/>
            <a:r>
              <a:rPr sz="1600"/>
              <a:t>승인/반려 의견</a:t>
            </a:r>
          </a:p>
          <a:p>
            <a:pPr algn="l"/>
            <a:r>
              <a:rPr sz="1600"/>
              <a:t>### 이유</a:t>
            </a:r>
          </a:p>
          <a:p>
            <a:pPr algn="l"/>
            <a:r>
              <a:rPr sz="1600"/>
              <a:t>자동 merge보다 안전함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14. 권장 첫 번째 성공 사례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품질 평가가 쉬움</a:t>
            </a:r>
          </a:p>
          <a:p>
            <a:pPr algn="l"/>
            <a:r>
              <a:rPr sz="1600"/>
              <a:t>도입 초기에 신뢰를 쌓기 좋음</a:t>
            </a:r>
          </a:p>
          <a:p>
            <a:pPr algn="l"/>
            <a:r>
              <a:rPr sz="1600"/>
              <a:t>이후 Owner 자동화로 확장하기 쉬움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결론 (1/2)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외부망 연계형 AI 개발지원 시스템은</a:t>
            </a:r>
          </a:p>
          <a:p>
            <a:pPr algn="l"/>
            <a:r>
              <a:rPr sz="1600"/>
              <a:t>**초기 구축비를 낮추고 빠르게 MVP를 시작할 수 있는 방식**입니다.</a:t>
            </a:r>
          </a:p>
          <a:p>
            <a:pPr algn="l"/>
            <a:r>
              <a:rPr sz="1600"/>
              <a:t>다만 운영 시에는,</a:t>
            </a:r>
          </a:p>
          <a:p>
            <a:pPr algn="l"/>
            <a:r>
              <a:rPr sz="1600"/>
              <a:t>외부 AI 사용료</a:t>
            </a:r>
          </a:p>
          <a:p>
            <a:pPr algn="l"/>
            <a:r>
              <a:rPr sz="1600"/>
              <a:t>데이터 반출 범위 통제</a:t>
            </a:r>
          </a:p>
          <a:p>
            <a:pPr algn="l"/>
            <a:r>
              <a:rPr sz="1600"/>
              <a:t>외부 서비스 의존성</a:t>
            </a:r>
          </a:p>
          <a:p>
            <a:pPr algn="l"/>
            <a:r>
              <a:rPr sz="1600"/>
              <a:t>을 함께 관리해야 합니다.</a:t>
            </a:r>
          </a:p>
          <a:p>
            <a:pPr algn="l"/>
            <a:r>
              <a:rPr sz="1600"/>
              <a:t>즉,</a:t>
            </a:r>
          </a:p>
          <a:p>
            <a:pPr algn="l"/>
            <a:r>
              <a:rPr sz="1600"/>
              <a:t>**초기 비용과 도입 속도가 중요하면 외부망 연계형**</a:t>
            </a:r>
          </a:p>
          <a:p>
            <a:pPr algn="l"/>
            <a:r>
              <a:rPr sz="1600"/>
              <a:t>**보안 통제와 내부 독립성이 중요하면 폐쇄망 내부형**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15. 결론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 algn="l"/>
            <a:r>
              <a:rPr sz="1600"/>
              <a:t>으로 구분해서 판단하는 것이 적절합니다.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